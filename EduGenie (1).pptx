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0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08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0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1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9692640" y="-1188720"/>
            <a:ext cx="3840480" cy="3840480"/>
          </a:xfrm>
          <a:prstGeom prst="ellipse"/>
          <a:solidFill>
            <a:srgbClr val="3730A3">
              <a:alpha val="60000"/>
            </a:srgbClr>
          </a:solidFill>
        </p:spPr>
      </p:sp>
      <p:sp>
        <p:nvSpPr>
          <p:cNvPr id="1048577" name="Shape 1"/>
          <p:cNvSpPr/>
          <p:nvPr/>
        </p:nvSpPr>
        <p:spPr>
          <a:xfrm>
            <a:off x="950069" y="4280494"/>
            <a:ext cx="4609608" cy="2163416"/>
          </a:xfrm>
          <a:prstGeom prst="ellipse"/>
          <a:solidFill>
            <a:srgbClr val="EC4899">
              <a:alpha val="30000"/>
            </a:srgbClr>
          </a:solidFill>
        </p:spPr>
        <p:txBody>
          <a:bodyPr/>
          <a:p>
            <a:r>
              <a:rPr altLang="en-US" sz="1600" lang="zh-CN"/>
              <a:t>
</a:t>
            </a:r>
            <a:r>
              <a:rPr altLang="en-GB" sz="1600" lang="en-US">
                <a:solidFill>
                  <a:srgbClr val="FFFFFF"/>
                </a:solidFill>
              </a:rPr>
              <a:t>T</a:t>
            </a:r>
            <a:r>
              <a:rPr altLang="en-GB" sz="1600" lang="en-US">
                <a:solidFill>
                  <a:srgbClr val="FFFFFF"/>
                </a:solidFill>
              </a:rPr>
              <a:t>e</a:t>
            </a:r>
            <a:r>
              <a:rPr altLang="en-GB" sz="1600" lang="en-US">
                <a:solidFill>
                  <a:srgbClr val="FFFFFF"/>
                </a:solidFill>
              </a:rPr>
              <a:t>a</a:t>
            </a:r>
            <a:r>
              <a:rPr altLang="en-GB" sz="1600" lang="en-US">
                <a:solidFill>
                  <a:srgbClr val="FFFFFF"/>
                </a:solidFill>
              </a:rPr>
              <a:t>m</a:t>
            </a:r>
            <a:r>
              <a:rPr altLang="en-GB" sz="1600" lang="en-US">
                <a:solidFill>
                  <a:srgbClr val="FFFFFF"/>
                </a:solidFill>
              </a:rPr>
              <a:t> </a:t>
            </a:r>
            <a:r>
              <a:rPr altLang="en-GB" sz="1600" lang="en-US">
                <a:solidFill>
                  <a:srgbClr val="FFFFFF"/>
                </a:solidFill>
              </a:rPr>
              <a:t>leader </a:t>
            </a:r>
            <a:r>
              <a:rPr altLang="en-GB" sz="1600" lang="en-US">
                <a:solidFill>
                  <a:srgbClr val="FFFFFF"/>
                </a:solidFill>
              </a:rPr>
              <a:t>:</a:t>
            </a:r>
            <a:r>
              <a:rPr altLang="en-GB" sz="1600" lang="en-US">
                <a:solidFill>
                  <a:srgbClr val="FFFFFF"/>
                </a:solidFill>
              </a:rPr>
              <a:t> </a:t>
            </a:r>
            <a:r>
              <a:rPr altLang="en-GB" sz="1600" lang="en-US">
                <a:solidFill>
                  <a:srgbClr val="FFFFFF"/>
                </a:solidFill>
              </a:rPr>
              <a:t> </a:t>
            </a:r>
            <a:r>
              <a:rPr altLang="en-GB" sz="1600" lang="en-US">
                <a:solidFill>
                  <a:srgbClr val="FFFFFF"/>
                </a:solidFill>
              </a:rPr>
              <a:t>O</a:t>
            </a:r>
            <a:r>
              <a:rPr altLang="en-GB" sz="1600" lang="en-US">
                <a:solidFill>
                  <a:srgbClr val="FFFFFF"/>
                </a:solidFill>
              </a:rPr>
              <a:t>b</a:t>
            </a:r>
            <a:r>
              <a:rPr altLang="en-GB" sz="1600" lang="en-US">
                <a:solidFill>
                  <a:srgbClr val="FFFFFF"/>
                </a:solidFill>
              </a:rPr>
              <a:t>u</a:t>
            </a:r>
            <a:r>
              <a:rPr altLang="en-GB" sz="1600" lang="en-US">
                <a:solidFill>
                  <a:srgbClr val="FFFFFF"/>
                </a:solidFill>
              </a:rPr>
              <a:t>l</a:t>
            </a:r>
            <a:r>
              <a:rPr altLang="en-GB" sz="1600" lang="en-US">
                <a:solidFill>
                  <a:srgbClr val="FFFFFF"/>
                </a:solidFill>
              </a:rPr>
              <a:t>a</a:t>
            </a:r>
            <a:r>
              <a:rPr altLang="en-GB" sz="1600" lang="en-US">
                <a:solidFill>
                  <a:srgbClr val="FFFFFF"/>
                </a:solidFill>
              </a:rPr>
              <a:t>t</a:t>
            </a:r>
            <a:r>
              <a:rPr altLang="en-GB" sz="1600" lang="en-US">
                <a:solidFill>
                  <a:srgbClr val="FFFFFF"/>
                </a:solidFill>
              </a:rPr>
              <a:t>h</a:t>
            </a:r>
            <a:r>
              <a:rPr altLang="en-GB" sz="1600" lang="en-US">
                <a:solidFill>
                  <a:srgbClr val="FFFFFF"/>
                </a:solidFill>
              </a:rPr>
              <a:t>a</a:t>
            </a:r>
            <a:r>
              <a:rPr altLang="en-GB" sz="1600" lang="en-US">
                <a:solidFill>
                  <a:srgbClr val="FFFFFF"/>
                </a:solidFill>
              </a:rPr>
              <a:t>.</a:t>
            </a:r>
            <a:r>
              <a:rPr altLang="en-GB" sz="1600" lang="en-US">
                <a:solidFill>
                  <a:srgbClr val="FFFFFF"/>
                </a:solidFill>
              </a:rPr>
              <a:t>V</a:t>
            </a:r>
            <a:endParaRPr altLang="en-US" lang="zh-CN"/>
          </a:p>
          <a:p>
            <a:r>
              <a:rPr altLang="en-GB" sz="1600" lang="en-US">
                <a:solidFill>
                  <a:srgbClr val="FFFFFF"/>
                </a:solidFill>
              </a:rPr>
              <a:t>T</a:t>
            </a:r>
            <a:r>
              <a:rPr altLang="en-GB" sz="1600" lang="en-US">
                <a:solidFill>
                  <a:srgbClr val="FFFFFF"/>
                </a:solidFill>
              </a:rPr>
              <a:t>e</a:t>
            </a:r>
            <a:r>
              <a:rPr altLang="en-GB" sz="1600" lang="en-US">
                <a:solidFill>
                  <a:srgbClr val="FFFFFF"/>
                </a:solidFill>
              </a:rPr>
              <a:t>a</a:t>
            </a:r>
            <a:r>
              <a:rPr altLang="en-GB" sz="1600" lang="en-US">
                <a:solidFill>
                  <a:srgbClr val="FFFFFF"/>
                </a:solidFill>
              </a:rPr>
              <a:t>m </a:t>
            </a:r>
            <a:r>
              <a:rPr altLang="en-GB" sz="1600" lang="en-US">
                <a:solidFill>
                  <a:srgbClr val="FFFFFF"/>
                </a:solidFill>
              </a:rPr>
              <a:t>members</a:t>
            </a:r>
            <a:r>
              <a:rPr altLang="en-GB" sz="1600" lang="en-US">
                <a:solidFill>
                  <a:srgbClr val="FFFFFF"/>
                </a:solidFill>
              </a:rPr>
              <a:t> </a:t>
            </a:r>
            <a:r>
              <a:rPr altLang="en-GB" sz="1600" lang="en-US">
                <a:solidFill>
                  <a:srgbClr val="FFFFFF"/>
                </a:solidFill>
              </a:rPr>
              <a:t>:</a:t>
            </a:r>
            <a:r>
              <a:rPr altLang="en-GB" sz="1600" lang="en-US">
                <a:solidFill>
                  <a:srgbClr val="FFFFFF"/>
                </a:solidFill>
              </a:rPr>
              <a:t> </a:t>
            </a:r>
            <a:r>
              <a:rPr altLang="en-GB" sz="1600" lang="en-US">
                <a:solidFill>
                  <a:srgbClr val="FFFFFF"/>
                </a:solidFill>
              </a:rPr>
              <a:t>P</a:t>
            </a:r>
            <a:r>
              <a:rPr altLang="en-GB" sz="1600" lang="en-US">
                <a:solidFill>
                  <a:srgbClr val="FFFFFF"/>
                </a:solidFill>
              </a:rPr>
              <a:t>a</a:t>
            </a:r>
            <a:r>
              <a:rPr altLang="en-GB" sz="1600" lang="en-US">
                <a:solidFill>
                  <a:srgbClr val="FFFFFF"/>
                </a:solidFill>
              </a:rPr>
              <a:t>r</a:t>
            </a:r>
            <a:r>
              <a:rPr altLang="en-GB" sz="1600" lang="en-US">
                <a:solidFill>
                  <a:srgbClr val="FFFFFF"/>
                </a:solidFill>
              </a:rPr>
              <a:t>a</a:t>
            </a:r>
            <a:r>
              <a:rPr altLang="en-GB" sz="1600" lang="en-US">
                <a:solidFill>
                  <a:srgbClr val="FFFFFF"/>
                </a:solidFill>
              </a:rPr>
              <a:t>m</a:t>
            </a:r>
            <a:r>
              <a:rPr altLang="en-GB" sz="1600" lang="en-US">
                <a:solidFill>
                  <a:srgbClr val="FFFFFF"/>
                </a:solidFill>
              </a:rPr>
              <a:t>e</a:t>
            </a:r>
            <a:r>
              <a:rPr altLang="en-GB" sz="1600" lang="en-US">
                <a:solidFill>
                  <a:srgbClr val="FFFFFF"/>
                </a:solidFill>
              </a:rPr>
              <a:t>s</a:t>
            </a:r>
            <a:r>
              <a:rPr altLang="en-GB" sz="1600" lang="en-US">
                <a:solidFill>
                  <a:srgbClr val="FFFFFF"/>
                </a:solidFill>
              </a:rPr>
              <a:t>h</a:t>
            </a:r>
            <a:r>
              <a:rPr altLang="en-GB" sz="1600" lang="en-US">
                <a:solidFill>
                  <a:srgbClr val="FFFFFF"/>
                </a:solidFill>
              </a:rPr>
              <a:t>war</a:t>
            </a:r>
            <a:r>
              <a:rPr altLang="en-GB" sz="1600" lang="en-US">
                <a:solidFill>
                  <a:srgbClr val="FFFFFF"/>
                </a:solidFill>
              </a:rPr>
              <a:t>a</a:t>
            </a:r>
            <a:r>
              <a:rPr altLang="en-GB" sz="1600" lang="en-US">
                <a:solidFill>
                  <a:srgbClr val="FFFFFF"/>
                </a:solidFill>
              </a:rPr>
              <a:t>n</a:t>
            </a:r>
            <a:r>
              <a:rPr altLang="en-GB" sz="1600" lang="en-US">
                <a:solidFill>
                  <a:srgbClr val="FFFFFF"/>
                </a:solidFill>
              </a:rPr>
              <a:t>.</a:t>
            </a:r>
            <a:r>
              <a:rPr altLang="en-GB" sz="1600" lang="en-US">
                <a:solidFill>
                  <a:srgbClr val="FFFFFF"/>
                </a:solidFill>
              </a:rPr>
              <a:t>T</a:t>
            </a:r>
            <a:endParaRPr altLang="en-US" lang="zh-CN"/>
          </a:p>
          <a:p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/>
              <a:t> </a:t>
            </a:r>
            <a:r>
              <a:rPr altLang="en-GB" lang="en-US">
                <a:solidFill>
                  <a:srgbClr val="FFFFFF"/>
                </a:solidFill>
              </a:rPr>
              <a:t>P</a:t>
            </a:r>
            <a:r>
              <a:rPr altLang="en-GB" lang="en-US">
                <a:solidFill>
                  <a:srgbClr val="FFFFFF"/>
                </a:solidFill>
              </a:rPr>
              <a:t>a</a:t>
            </a:r>
            <a:r>
              <a:rPr altLang="en-GB" lang="en-US">
                <a:solidFill>
                  <a:srgbClr val="FFFFFF"/>
                </a:solidFill>
              </a:rPr>
              <a:t>v</a:t>
            </a:r>
            <a:r>
              <a:rPr altLang="en-GB" lang="en-US">
                <a:solidFill>
                  <a:srgbClr val="FFFFFF"/>
                </a:solidFill>
              </a:rPr>
              <a:t>i</a:t>
            </a:r>
            <a:r>
              <a:rPr altLang="en-GB" lang="en-US">
                <a:solidFill>
                  <a:srgbClr val="FFFFFF"/>
                </a:solidFill>
              </a:rPr>
              <a:t>s</a:t>
            </a:r>
            <a:r>
              <a:rPr altLang="en-GB" lang="en-US">
                <a:solidFill>
                  <a:srgbClr val="FFFFFF"/>
                </a:solidFill>
              </a:rPr>
              <a:t>h</a:t>
            </a:r>
            <a:r>
              <a:rPr altLang="en-GB" lang="en-US">
                <a:solidFill>
                  <a:srgbClr val="FFFFFF"/>
                </a:solidFill>
              </a:rPr>
              <a:t>.</a:t>
            </a:r>
            <a:r>
              <a:rPr altLang="en-GB" lang="en-US">
                <a:solidFill>
                  <a:srgbClr val="FFFFFF"/>
                </a:solidFill>
              </a:rPr>
              <a:t>R</a:t>
            </a:r>
            <a:endParaRPr altLang="en-US" lang="zh-CN"/>
          </a:p>
          <a:p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P</a:t>
            </a:r>
            <a:r>
              <a:rPr altLang="en-GB" lang="en-US">
                <a:solidFill>
                  <a:srgbClr val="FFFFFF"/>
                </a:solidFill>
              </a:rPr>
              <a:t>o</a:t>
            </a:r>
            <a:r>
              <a:rPr altLang="en-GB" lang="en-US">
                <a:solidFill>
                  <a:srgbClr val="FFFFFF"/>
                </a:solidFill>
              </a:rPr>
              <a:t>o</a:t>
            </a:r>
            <a:r>
              <a:rPr altLang="en-GB" lang="en-US">
                <a:solidFill>
                  <a:srgbClr val="FFFFFF"/>
                </a:solidFill>
              </a:rPr>
              <a:t>j</a:t>
            </a:r>
            <a:r>
              <a:rPr altLang="en-GB" lang="en-US">
                <a:solidFill>
                  <a:srgbClr val="FFFFFF"/>
                </a:solidFill>
              </a:rPr>
              <a:t>a</a:t>
            </a:r>
            <a:r>
              <a:rPr altLang="en-GB" lang="en-US">
                <a:solidFill>
                  <a:srgbClr val="FFFFFF"/>
                </a:solidFill>
              </a:rPr>
              <a:t>.</a:t>
            </a:r>
            <a:r>
              <a:rPr altLang="en-GB" lang="en-US">
                <a:solidFill>
                  <a:srgbClr val="FFFFFF"/>
                </a:solidFill>
              </a:rPr>
              <a:t>R</a:t>
            </a:r>
            <a:endParaRPr altLang="en-US" lang="zh-CN"/>
          </a:p>
          <a:p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P</a:t>
            </a:r>
            <a:r>
              <a:rPr altLang="en-GB" lang="en-US">
                <a:solidFill>
                  <a:srgbClr val="FFFFFF"/>
                </a:solidFill>
              </a:rPr>
              <a:t>o</a:t>
            </a:r>
            <a:r>
              <a:rPr altLang="en-GB" lang="en-US">
                <a:solidFill>
                  <a:srgbClr val="FFFFFF"/>
                </a:solidFill>
              </a:rPr>
              <a:t>o</a:t>
            </a:r>
            <a:r>
              <a:rPr altLang="en-GB" lang="en-US">
                <a:solidFill>
                  <a:srgbClr val="FFFFFF"/>
                </a:solidFill>
              </a:rPr>
              <a:t>j</a:t>
            </a:r>
            <a:r>
              <a:rPr altLang="en-GB" lang="en-US">
                <a:solidFill>
                  <a:srgbClr val="FFFFFF"/>
                </a:solidFill>
              </a:rPr>
              <a:t>a</a:t>
            </a:r>
            <a:r>
              <a:rPr altLang="en-GB" lang="en-US">
                <a:solidFill>
                  <a:srgbClr val="FFFFFF"/>
                </a:solidFill>
              </a:rPr>
              <a:t> </a:t>
            </a:r>
            <a:r>
              <a:rPr altLang="en-GB" lang="en-US">
                <a:solidFill>
                  <a:srgbClr val="FFFFFF"/>
                </a:solidFill>
              </a:rPr>
              <a:t>s</a:t>
            </a:r>
            <a:r>
              <a:rPr altLang="en-GB" lang="en-US">
                <a:solidFill>
                  <a:srgbClr val="FFFFFF"/>
                </a:solidFill>
              </a:rPr>
              <a:t>r</a:t>
            </a:r>
            <a:r>
              <a:rPr altLang="en-GB" lang="en-US">
                <a:solidFill>
                  <a:srgbClr val="FFFFFF"/>
                </a:solidFill>
              </a:rPr>
              <a:t>i</a:t>
            </a:r>
            <a:r>
              <a:rPr altLang="en-GB" lang="en-US">
                <a:solidFill>
                  <a:srgbClr val="FFFFFF"/>
                </a:solidFill>
              </a:rPr>
              <a:t>.</a:t>
            </a:r>
            <a:r>
              <a:rPr altLang="en-GB" lang="en-US">
                <a:solidFill>
                  <a:srgbClr val="FFFFFF"/>
                </a:solidFill>
              </a:rPr>
              <a:t>P</a:t>
            </a:r>
            <a:endParaRPr altLang="en-US" lang="zh-CN"/>
          </a:p>
        </p:txBody>
      </p:sp>
      <p:sp>
        <p:nvSpPr>
          <p:cNvPr id="1048578" name="Text 2"/>
          <p:cNvSpPr txBox="1"/>
          <p:nvPr/>
        </p:nvSpPr>
        <p:spPr>
          <a:xfrm>
            <a:off x="822960" y="2331720"/>
            <a:ext cx="10515600" cy="91440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4600" kern="0" lang="en-US" spc="20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</a:t>
            </a:r>
            <a:endParaRPr dirty="0" sz="4600" lang="en-US"/>
          </a:p>
        </p:txBody>
      </p:sp>
      <p:sp>
        <p:nvSpPr>
          <p:cNvPr id="1048579" name="Text 3"/>
          <p:cNvSpPr txBox="1"/>
          <p:nvPr/>
        </p:nvSpPr>
        <p:spPr>
          <a:xfrm>
            <a:off x="822960" y="3246120"/>
            <a:ext cx="96012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2200" i="1" lang="en-US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Education with Google Gemini</a:t>
            </a:r>
            <a:endParaRPr dirty="0" sz="2200" lang="en-US"/>
          </a:p>
        </p:txBody>
      </p:sp>
      <p:sp>
        <p:nvSpPr>
          <p:cNvPr id="1048580" name="Text 4"/>
          <p:cNvSpPr txBox="1"/>
          <p:nvPr/>
        </p:nvSpPr>
        <p:spPr>
          <a:xfrm>
            <a:off x="822960" y="4160520"/>
            <a:ext cx="8686800" cy="45720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lang="en-US">
                <a:solidFill>
                  <a:srgbClr val="9C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Learning Assistant Powered by Generative AI</a:t>
            </a:r>
            <a:endParaRPr dirty="0" sz="1400" lang="en-US"/>
          </a:p>
        </p:txBody>
      </p:sp>
      <p:sp>
        <p:nvSpPr>
          <p:cNvPr id="1048581" name="Text 5"/>
          <p:cNvSpPr txBox="1"/>
          <p:nvPr/>
        </p:nvSpPr>
        <p:spPr>
          <a:xfrm>
            <a:off x="822960" y="6126480"/>
            <a:ext cx="73152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200" lang="en-US">
                <a:solidFill>
                  <a:srgbClr val="8B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  •  EduGenie Project</a:t>
            </a:r>
            <a:endParaRPr dirty="0" sz="12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ext 0"/>
          <p:cNvSpPr txBox="1"/>
          <p:nvPr/>
        </p:nvSpPr>
        <p:spPr>
          <a:xfrm>
            <a:off x="548640" y="411480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dirty="0" sz="3200" lang="en-US"/>
          </a:p>
        </p:txBody>
      </p:sp>
      <p:sp>
        <p:nvSpPr>
          <p:cNvPr id="1048586" name="Text 1"/>
          <p:cNvSpPr txBox="1"/>
          <p:nvPr/>
        </p:nvSpPr>
        <p:spPr>
          <a:xfrm>
            <a:off x="548640" y="960120"/>
            <a:ext cx="8229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learners struggle in today's classrooms</a:t>
            </a:r>
            <a:endParaRPr dirty="0" sz="1400" lang="en-US"/>
          </a:p>
        </p:txBody>
      </p:sp>
      <p:sp>
        <p:nvSpPr>
          <p:cNvPr id="1048587" name="Shape 2"/>
          <p:cNvSpPr/>
          <p:nvPr/>
        </p:nvSpPr>
        <p:spPr>
          <a:xfrm>
            <a:off x="54864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</p:spPr>
      </p:sp>
      <p:sp>
        <p:nvSpPr>
          <p:cNvPr id="1048588" name="Shape 3"/>
          <p:cNvSpPr/>
          <p:nvPr/>
        </p:nvSpPr>
        <p:spPr>
          <a:xfrm>
            <a:off x="868680" y="2057400"/>
            <a:ext cx="640080" cy="640080"/>
          </a:xfrm>
          <a:prstGeom prst="ellipse"/>
          <a:solidFill>
            <a:srgbClr val="3730A3"/>
          </a:solidFill>
        </p:spPr>
      </p:sp>
      <p:sp>
        <p:nvSpPr>
          <p:cNvPr id="1048589" name="Text 4"/>
          <p:cNvSpPr txBox="1"/>
          <p:nvPr/>
        </p:nvSpPr>
        <p:spPr>
          <a:xfrm>
            <a:off x="868680" y="205740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4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dirty="0" sz="1540" lang="en-US"/>
          </a:p>
        </p:txBody>
      </p:sp>
      <p:sp>
        <p:nvSpPr>
          <p:cNvPr id="1048590" name="Text 5"/>
          <p:cNvSpPr txBox="1"/>
          <p:nvPr/>
        </p:nvSpPr>
        <p:spPr>
          <a:xfrm>
            <a:off x="868680" y="2880360"/>
            <a:ext cx="288036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One-Size-Fits-All</a:t>
            </a:r>
            <a:endParaRPr dirty="0" sz="1800" lang="en-US"/>
          </a:p>
        </p:txBody>
      </p:sp>
      <p:sp>
        <p:nvSpPr>
          <p:cNvPr id="1048591" name="Text 6"/>
          <p:cNvSpPr txBox="1"/>
          <p:nvPr/>
        </p:nvSpPr>
        <p:spPr>
          <a:xfrm>
            <a:off x="868680" y="3429000"/>
            <a:ext cx="2880360" cy="2011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5000"/>
              </a:lnSpc>
              <a:buNone/>
            </a:pPr>
            <a:r>
              <a:rPr dirty="0" sz="130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teaching moves at a fixed pace, ignoring individual learning speeds and styles.</a:t>
            </a:r>
            <a:endParaRPr dirty="0" sz="1300" lang="en-US"/>
          </a:p>
        </p:txBody>
      </p:sp>
      <p:sp>
        <p:nvSpPr>
          <p:cNvPr id="1048592" name="Shape 7"/>
          <p:cNvSpPr/>
          <p:nvPr/>
        </p:nvSpPr>
        <p:spPr>
          <a:xfrm>
            <a:off x="438912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</p:spPr>
      </p:sp>
      <p:sp>
        <p:nvSpPr>
          <p:cNvPr id="1048593" name="Shape 8"/>
          <p:cNvSpPr/>
          <p:nvPr/>
        </p:nvSpPr>
        <p:spPr>
          <a:xfrm>
            <a:off x="4709160" y="2057400"/>
            <a:ext cx="640080" cy="640080"/>
          </a:xfrm>
          <a:prstGeom prst="ellipse"/>
          <a:solidFill>
            <a:srgbClr val="3730A3"/>
          </a:solidFill>
        </p:spPr>
      </p:sp>
      <p:sp>
        <p:nvSpPr>
          <p:cNvPr id="1048594" name="Text 9"/>
          <p:cNvSpPr txBox="1"/>
          <p:nvPr/>
        </p:nvSpPr>
        <p:spPr>
          <a:xfrm>
            <a:off x="4709160" y="205740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4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dirty="0" sz="1540" lang="en-US"/>
          </a:p>
        </p:txBody>
      </p:sp>
      <p:sp>
        <p:nvSpPr>
          <p:cNvPr id="1048595" name="Text 10"/>
          <p:cNvSpPr txBox="1"/>
          <p:nvPr/>
        </p:nvSpPr>
        <p:spPr>
          <a:xfrm>
            <a:off x="4709160" y="2880360"/>
            <a:ext cx="288036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Support</a:t>
            </a:r>
            <a:endParaRPr dirty="0" sz="1800" lang="en-US"/>
          </a:p>
        </p:txBody>
      </p:sp>
      <p:sp>
        <p:nvSpPr>
          <p:cNvPr id="1048596" name="Text 11"/>
          <p:cNvSpPr txBox="1"/>
          <p:nvPr/>
        </p:nvSpPr>
        <p:spPr>
          <a:xfrm>
            <a:off x="4709160" y="3429000"/>
            <a:ext cx="2880360" cy="2011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5000"/>
              </a:lnSpc>
              <a:buNone/>
            </a:pPr>
            <a:r>
              <a:rPr dirty="0" sz="130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can't get instant help outside class hours when doubts actually arise.</a:t>
            </a:r>
            <a:endParaRPr dirty="0" sz="1300" lang="en-US"/>
          </a:p>
        </p:txBody>
      </p:sp>
      <p:sp>
        <p:nvSpPr>
          <p:cNvPr id="1048597" name="Shape 12"/>
          <p:cNvSpPr/>
          <p:nvPr/>
        </p:nvSpPr>
        <p:spPr>
          <a:xfrm>
            <a:off x="822960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</p:spPr>
      </p:sp>
      <p:sp>
        <p:nvSpPr>
          <p:cNvPr id="1048598" name="Shape 13"/>
          <p:cNvSpPr/>
          <p:nvPr/>
        </p:nvSpPr>
        <p:spPr>
          <a:xfrm>
            <a:off x="8549640" y="2057400"/>
            <a:ext cx="640080" cy="640080"/>
          </a:xfrm>
          <a:prstGeom prst="ellipse"/>
          <a:solidFill>
            <a:srgbClr val="3730A3"/>
          </a:solidFill>
        </p:spPr>
      </p:sp>
      <p:sp>
        <p:nvSpPr>
          <p:cNvPr id="1048599" name="Text 14"/>
          <p:cNvSpPr txBox="1"/>
          <p:nvPr/>
        </p:nvSpPr>
        <p:spPr>
          <a:xfrm>
            <a:off x="8549640" y="205740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4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dirty="0" sz="1540" lang="en-US"/>
          </a:p>
        </p:txBody>
      </p:sp>
      <p:sp>
        <p:nvSpPr>
          <p:cNvPr id="1048600" name="Text 15"/>
          <p:cNvSpPr txBox="1"/>
          <p:nvPr/>
        </p:nvSpPr>
        <p:spPr>
          <a:xfrm>
            <a:off x="8549640" y="2880360"/>
            <a:ext cx="288036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Learning</a:t>
            </a:r>
            <a:endParaRPr dirty="0" sz="1800" lang="en-US"/>
          </a:p>
        </p:txBody>
      </p:sp>
      <p:sp>
        <p:nvSpPr>
          <p:cNvPr id="1048601" name="Text 16"/>
          <p:cNvSpPr txBox="1"/>
          <p:nvPr/>
        </p:nvSpPr>
        <p:spPr>
          <a:xfrm>
            <a:off x="8549640" y="3429000"/>
            <a:ext cx="2880360" cy="2011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5000"/>
              </a:lnSpc>
              <a:buNone/>
            </a:pPr>
            <a:r>
              <a:rPr dirty="0" sz="130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textbooks and slides don't adapt or respond to how a student is actually learning.</a:t>
            </a:r>
            <a:endParaRPr dirty="0" sz="13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 0"/>
          <p:cNvSpPr txBox="1"/>
          <p:nvPr/>
        </p:nvSpPr>
        <p:spPr>
          <a:xfrm>
            <a:off x="548640" y="457200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dirty="0" sz="3200" lang="en-US"/>
          </a:p>
        </p:txBody>
      </p:sp>
      <p:sp>
        <p:nvSpPr>
          <p:cNvPr id="1048606" name="Shape 1"/>
          <p:cNvSpPr/>
          <p:nvPr/>
        </p:nvSpPr>
        <p:spPr>
          <a:xfrm>
            <a:off x="548640" y="1371600"/>
            <a:ext cx="6035040" cy="4572000"/>
          </a:xfrm>
          <a:prstGeom prst="roundRect">
            <a:avLst>
              <a:gd name="adj" fmla="val 2400"/>
            </a:avLst>
          </a:prstGeom>
          <a:solidFill>
            <a:srgbClr val="3730A3"/>
          </a:solidFill>
        </p:spPr>
      </p:sp>
      <p:sp>
        <p:nvSpPr>
          <p:cNvPr id="1048607" name="Text 2"/>
          <p:cNvSpPr txBox="1"/>
          <p:nvPr/>
        </p:nvSpPr>
        <p:spPr>
          <a:xfrm>
            <a:off x="914400" y="1645920"/>
            <a:ext cx="53035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</a:t>
            </a:r>
            <a:endParaRPr dirty="0" sz="2400" lang="en-US"/>
          </a:p>
        </p:txBody>
      </p:sp>
      <p:sp>
        <p:nvSpPr>
          <p:cNvPr id="1048608" name="Text 3"/>
          <p:cNvSpPr txBox="1"/>
          <p:nvPr/>
        </p:nvSpPr>
        <p:spPr>
          <a:xfrm>
            <a:off x="914400" y="2286000"/>
            <a:ext cx="5303520" cy="1554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30000"/>
              </a:lnSpc>
              <a:buNone/>
            </a:pPr>
            <a:r>
              <a:rPr dirty="0" sz="1450" lang="en-US">
                <a:solidFill>
                  <a:srgbClr val="DC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 is an AI-powered learning assistant built on Google's Gemini models. It understands each student's questions, learning pace, and goals — then responds with personalized explanations, practice, and guidance, available anytime.</a:t>
            </a:r>
            <a:endParaRPr dirty="0" sz="1450" lang="en-US"/>
          </a:p>
        </p:txBody>
      </p:sp>
      <p:sp>
        <p:nvSpPr>
          <p:cNvPr id="1048609" name="Shape 4"/>
          <p:cNvSpPr/>
          <p:nvPr/>
        </p:nvSpPr>
        <p:spPr>
          <a:xfrm>
            <a:off x="914400" y="3977640"/>
            <a:ext cx="146304" cy="146304"/>
          </a:xfrm>
          <a:prstGeom prst="ellipse"/>
          <a:solidFill>
            <a:srgbClr val="EC4899"/>
          </a:solidFill>
        </p:spPr>
      </p:sp>
      <p:sp>
        <p:nvSpPr>
          <p:cNvPr id="1048610" name="Text 5"/>
          <p:cNvSpPr txBox="1"/>
          <p:nvPr/>
        </p:nvSpPr>
        <p:spPr>
          <a:xfrm>
            <a:off x="1188720" y="3858768"/>
            <a:ext cx="49377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personalized doubt-solving</a:t>
            </a:r>
            <a:endParaRPr dirty="0" sz="1350" lang="en-US"/>
          </a:p>
        </p:txBody>
      </p:sp>
      <p:sp>
        <p:nvSpPr>
          <p:cNvPr id="1048611" name="Shape 6"/>
          <p:cNvSpPr/>
          <p:nvPr/>
        </p:nvSpPr>
        <p:spPr>
          <a:xfrm>
            <a:off x="914400" y="4572000"/>
            <a:ext cx="146304" cy="146304"/>
          </a:xfrm>
          <a:prstGeom prst="ellipse"/>
          <a:solidFill>
            <a:srgbClr val="EC4899"/>
          </a:solidFill>
        </p:spPr>
      </p:sp>
      <p:sp>
        <p:nvSpPr>
          <p:cNvPr id="1048612" name="Text 7"/>
          <p:cNvSpPr txBox="1"/>
          <p:nvPr/>
        </p:nvSpPr>
        <p:spPr>
          <a:xfrm>
            <a:off x="1188720" y="4453128"/>
            <a:ext cx="49377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each learner's pace</a:t>
            </a:r>
            <a:endParaRPr dirty="0" sz="1350" lang="en-US"/>
          </a:p>
        </p:txBody>
      </p:sp>
      <p:sp>
        <p:nvSpPr>
          <p:cNvPr id="1048613" name="Shape 8"/>
          <p:cNvSpPr/>
          <p:nvPr/>
        </p:nvSpPr>
        <p:spPr>
          <a:xfrm>
            <a:off x="914400" y="5166360"/>
            <a:ext cx="146304" cy="146304"/>
          </a:xfrm>
          <a:prstGeom prst="ellipse"/>
          <a:solidFill>
            <a:srgbClr val="EC4899"/>
          </a:solidFill>
        </p:spPr>
      </p:sp>
      <p:sp>
        <p:nvSpPr>
          <p:cNvPr id="1048614" name="Text 9"/>
          <p:cNvSpPr txBox="1"/>
          <p:nvPr/>
        </p:nvSpPr>
        <p:spPr>
          <a:xfrm>
            <a:off x="1188720" y="5047488"/>
            <a:ext cx="49377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passive content into active practice</a:t>
            </a:r>
            <a:endParaRPr dirty="0" sz="1350" lang="en-US"/>
          </a:p>
        </p:txBody>
      </p:sp>
      <p:sp>
        <p:nvSpPr>
          <p:cNvPr id="1048615" name="Shape 10"/>
          <p:cNvSpPr/>
          <p:nvPr/>
        </p:nvSpPr>
        <p:spPr>
          <a:xfrm>
            <a:off x="6858000" y="1371600"/>
            <a:ext cx="475488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</p:spPr>
      </p:sp>
      <p:sp>
        <p:nvSpPr>
          <p:cNvPr id="1048616" name="Text 11"/>
          <p:cNvSpPr txBox="1"/>
          <p:nvPr/>
        </p:nvSpPr>
        <p:spPr>
          <a:xfrm>
            <a:off x="7132320" y="1600200"/>
            <a:ext cx="42062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dirty="0" sz="1300" lang="en-US"/>
          </a:p>
        </p:txBody>
      </p:sp>
      <p:sp>
        <p:nvSpPr>
          <p:cNvPr id="1048617" name="Text 12"/>
          <p:cNvSpPr txBox="1"/>
          <p:nvPr/>
        </p:nvSpPr>
        <p:spPr>
          <a:xfrm>
            <a:off x="7132320" y="1965960"/>
            <a:ext cx="420624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</a:t>
            </a:r>
            <a:endParaRPr dirty="0" sz="2600" lang="en-US"/>
          </a:p>
        </p:txBody>
      </p:sp>
      <p:sp>
        <p:nvSpPr>
          <p:cNvPr id="1048618" name="Text 13"/>
          <p:cNvSpPr txBox="1"/>
          <p:nvPr/>
        </p:nvSpPr>
        <p:spPr>
          <a:xfrm>
            <a:off x="7132320" y="2606040"/>
            <a:ext cx="420624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20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generative AI for reasoning, language, and personalized responses.</a:t>
            </a:r>
            <a:endParaRPr dirty="0" sz="1200" lang="en-US"/>
          </a:p>
        </p:txBody>
      </p:sp>
      <p:sp>
        <p:nvSpPr>
          <p:cNvPr id="1048619" name="Shape 14"/>
          <p:cNvSpPr/>
          <p:nvPr/>
        </p:nvSpPr>
        <p:spPr>
          <a:xfrm>
            <a:off x="6858000" y="3657600"/>
            <a:ext cx="4754880" cy="2286000"/>
          </a:xfrm>
          <a:prstGeom prst="roundRect">
            <a:avLst>
              <a:gd name="adj" fmla="val 4800"/>
            </a:avLst>
          </a:prstGeom>
          <a:solidFill>
            <a:srgbClr val="EC4899"/>
          </a:solidFill>
        </p:spPr>
      </p:sp>
      <p:sp>
        <p:nvSpPr>
          <p:cNvPr id="1048620" name="Text 15"/>
          <p:cNvSpPr txBox="1"/>
          <p:nvPr/>
        </p:nvSpPr>
        <p:spPr>
          <a:xfrm>
            <a:off x="7132320" y="3886200"/>
            <a:ext cx="420624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E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dirty="0" sz="1300" lang="en-US"/>
          </a:p>
        </p:txBody>
      </p:sp>
      <p:sp>
        <p:nvSpPr>
          <p:cNvPr id="1048621" name="Text 16"/>
          <p:cNvSpPr txBox="1"/>
          <p:nvPr/>
        </p:nvSpPr>
        <p:spPr>
          <a:xfrm>
            <a:off x="7132320" y="4297680"/>
            <a:ext cx="4206240" cy="1463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30000"/>
              </a:lnSpc>
              <a:buNone/>
            </a:pPr>
            <a:r>
              <a:rPr dirty="0" sz="1600" i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quality, personalized learning accessible to every student, anytime, anywhere.</a:t>
            </a:r>
            <a:endParaRPr dirty="0" sz="16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ext 0"/>
          <p:cNvSpPr txBox="1"/>
          <p:nvPr/>
        </p:nvSpPr>
        <p:spPr>
          <a:xfrm>
            <a:off x="548640" y="411480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dirty="0" sz="3200" lang="en-US"/>
          </a:p>
        </p:txBody>
      </p:sp>
      <p:sp>
        <p:nvSpPr>
          <p:cNvPr id="1048626" name="Text 1"/>
          <p:cNvSpPr txBox="1"/>
          <p:nvPr/>
        </p:nvSpPr>
        <p:spPr>
          <a:xfrm>
            <a:off x="548640" y="960120"/>
            <a:ext cx="8229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EduGenie an effective learning partner</a:t>
            </a:r>
            <a:endParaRPr dirty="0" sz="1400" lang="en-US"/>
          </a:p>
        </p:txBody>
      </p:sp>
      <p:sp>
        <p:nvSpPr>
          <p:cNvPr id="1048627" name="Shape 2"/>
          <p:cNvSpPr/>
          <p:nvPr/>
        </p:nvSpPr>
        <p:spPr>
          <a:xfrm>
            <a:off x="54864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1048628" name="Shape 3"/>
          <p:cNvSpPr/>
          <p:nvPr/>
        </p:nvSpPr>
        <p:spPr>
          <a:xfrm>
            <a:off x="777240" y="1783080"/>
            <a:ext cx="502920" cy="502920"/>
          </a:xfrm>
          <a:prstGeom prst="ellipse"/>
          <a:solidFill>
            <a:srgbClr val="3730A3"/>
          </a:solidFill>
        </p:spPr>
      </p:sp>
      <p:sp>
        <p:nvSpPr>
          <p:cNvPr id="1048629" name="Text 4"/>
          <p:cNvSpPr txBox="1"/>
          <p:nvPr/>
        </p:nvSpPr>
        <p:spPr>
          <a:xfrm>
            <a:off x="777240" y="178308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1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dirty="0" sz="1210" lang="en-US"/>
          </a:p>
        </p:txBody>
      </p:sp>
      <p:sp>
        <p:nvSpPr>
          <p:cNvPr id="1048630" name="Text 5"/>
          <p:cNvSpPr txBox="1"/>
          <p:nvPr/>
        </p:nvSpPr>
        <p:spPr>
          <a:xfrm>
            <a:off x="1417320" y="1737360"/>
            <a:ext cx="25603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Doubt Solving</a:t>
            </a:r>
            <a:endParaRPr dirty="0" sz="1450" lang="en-US"/>
          </a:p>
        </p:txBody>
      </p:sp>
      <p:sp>
        <p:nvSpPr>
          <p:cNvPr id="1048631" name="Text 6"/>
          <p:cNvSpPr txBox="1"/>
          <p:nvPr/>
        </p:nvSpPr>
        <p:spPr>
          <a:xfrm>
            <a:off x="777240" y="2423160"/>
            <a:ext cx="3154680" cy="10972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in natural language and get clear, step-by-step explanations instantly.</a:t>
            </a:r>
            <a:endParaRPr dirty="0" sz="1150" lang="en-US"/>
          </a:p>
        </p:txBody>
      </p:sp>
      <p:sp>
        <p:nvSpPr>
          <p:cNvPr id="1048632" name="Shape 7"/>
          <p:cNvSpPr/>
          <p:nvPr/>
        </p:nvSpPr>
        <p:spPr>
          <a:xfrm>
            <a:off x="434340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1048633" name="Shape 8"/>
          <p:cNvSpPr/>
          <p:nvPr/>
        </p:nvSpPr>
        <p:spPr>
          <a:xfrm>
            <a:off x="4572000" y="1783080"/>
            <a:ext cx="502920" cy="502920"/>
          </a:xfrm>
          <a:prstGeom prst="ellipse"/>
          <a:solidFill>
            <a:srgbClr val="EC4899"/>
          </a:solidFill>
        </p:spPr>
      </p:sp>
      <p:sp>
        <p:nvSpPr>
          <p:cNvPr id="1048634" name="Text 9"/>
          <p:cNvSpPr txBox="1"/>
          <p:nvPr/>
        </p:nvSpPr>
        <p:spPr>
          <a:xfrm>
            <a:off x="4572000" y="178308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1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dirty="0" sz="1210" lang="en-US"/>
          </a:p>
        </p:txBody>
      </p:sp>
      <p:sp>
        <p:nvSpPr>
          <p:cNvPr id="1048635" name="Text 10"/>
          <p:cNvSpPr txBox="1"/>
          <p:nvPr/>
        </p:nvSpPr>
        <p:spPr>
          <a:xfrm>
            <a:off x="5212080" y="1737360"/>
            <a:ext cx="25603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Paths</a:t>
            </a:r>
            <a:endParaRPr dirty="0" sz="1450" lang="en-US"/>
          </a:p>
        </p:txBody>
      </p:sp>
      <p:sp>
        <p:nvSpPr>
          <p:cNvPr id="1048636" name="Text 11"/>
          <p:cNvSpPr txBox="1"/>
          <p:nvPr/>
        </p:nvSpPr>
        <p:spPr>
          <a:xfrm>
            <a:off x="4572000" y="2423160"/>
            <a:ext cx="3154680" cy="10972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content adapts in real time to a student's strengths, gaps, and pace.</a:t>
            </a:r>
            <a:endParaRPr dirty="0" sz="1150" lang="en-US"/>
          </a:p>
        </p:txBody>
      </p:sp>
      <p:sp>
        <p:nvSpPr>
          <p:cNvPr id="1048637" name="Shape 12"/>
          <p:cNvSpPr/>
          <p:nvPr/>
        </p:nvSpPr>
        <p:spPr>
          <a:xfrm>
            <a:off x="813816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1048638" name="Shape 13"/>
          <p:cNvSpPr/>
          <p:nvPr/>
        </p:nvSpPr>
        <p:spPr>
          <a:xfrm>
            <a:off x="8366760" y="1783080"/>
            <a:ext cx="502920" cy="502920"/>
          </a:xfrm>
          <a:prstGeom prst="ellipse"/>
          <a:solidFill>
            <a:srgbClr val="3730A3"/>
          </a:solidFill>
        </p:spPr>
      </p:sp>
      <p:sp>
        <p:nvSpPr>
          <p:cNvPr id="1048639" name="Text 14"/>
          <p:cNvSpPr txBox="1"/>
          <p:nvPr/>
        </p:nvSpPr>
        <p:spPr>
          <a:xfrm>
            <a:off x="8366760" y="178308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1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dirty="0" sz="1210" lang="en-US"/>
          </a:p>
        </p:txBody>
      </p:sp>
      <p:sp>
        <p:nvSpPr>
          <p:cNvPr id="1048640" name="Text 15"/>
          <p:cNvSpPr txBox="1"/>
          <p:nvPr/>
        </p:nvSpPr>
        <p:spPr>
          <a:xfrm>
            <a:off x="9006840" y="1737360"/>
            <a:ext cx="25603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Summaries</a:t>
            </a:r>
            <a:endParaRPr dirty="0" sz="1450" lang="en-US"/>
          </a:p>
        </p:txBody>
      </p:sp>
      <p:sp>
        <p:nvSpPr>
          <p:cNvPr id="1048641" name="Text 16"/>
          <p:cNvSpPr txBox="1"/>
          <p:nvPr/>
        </p:nvSpPr>
        <p:spPr>
          <a:xfrm>
            <a:off x="8366760" y="2423160"/>
            <a:ext cx="3154680" cy="10972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long chapters, notes, and articles into concise, easy-to-revise summaries.</a:t>
            </a:r>
            <a:endParaRPr dirty="0" sz="1150" lang="en-US"/>
          </a:p>
        </p:txBody>
      </p:sp>
      <p:sp>
        <p:nvSpPr>
          <p:cNvPr id="1048642" name="Shape 17"/>
          <p:cNvSpPr/>
          <p:nvPr/>
        </p:nvSpPr>
        <p:spPr>
          <a:xfrm>
            <a:off x="54864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1048643" name="Shape 18"/>
          <p:cNvSpPr/>
          <p:nvPr/>
        </p:nvSpPr>
        <p:spPr>
          <a:xfrm>
            <a:off x="777240" y="4069080"/>
            <a:ext cx="502920" cy="502920"/>
          </a:xfrm>
          <a:prstGeom prst="ellipse"/>
          <a:solidFill>
            <a:srgbClr val="EC4899"/>
          </a:solidFill>
        </p:spPr>
      </p:sp>
      <p:sp>
        <p:nvSpPr>
          <p:cNvPr id="1048644" name="Text 19"/>
          <p:cNvSpPr txBox="1"/>
          <p:nvPr/>
        </p:nvSpPr>
        <p:spPr>
          <a:xfrm>
            <a:off x="777240" y="406908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1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dirty="0" sz="1210" lang="en-US"/>
          </a:p>
        </p:txBody>
      </p:sp>
      <p:sp>
        <p:nvSpPr>
          <p:cNvPr id="1048645" name="Text 20"/>
          <p:cNvSpPr txBox="1"/>
          <p:nvPr/>
        </p:nvSpPr>
        <p:spPr>
          <a:xfrm>
            <a:off x="1417320" y="4023360"/>
            <a:ext cx="25603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Quizzes</a:t>
            </a:r>
            <a:endParaRPr dirty="0" sz="1450" lang="en-US"/>
          </a:p>
        </p:txBody>
      </p:sp>
      <p:sp>
        <p:nvSpPr>
          <p:cNvPr id="1048646" name="Text 21"/>
          <p:cNvSpPr txBox="1"/>
          <p:nvPr/>
        </p:nvSpPr>
        <p:spPr>
          <a:xfrm>
            <a:off x="777240" y="4709160"/>
            <a:ext cx="3154680" cy="10972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quizzes and practice questions to reinforce every topic covered.</a:t>
            </a:r>
            <a:endParaRPr dirty="0" sz="1150" lang="en-US"/>
          </a:p>
        </p:txBody>
      </p:sp>
      <p:sp>
        <p:nvSpPr>
          <p:cNvPr id="1048647" name="Shape 22"/>
          <p:cNvSpPr/>
          <p:nvPr/>
        </p:nvSpPr>
        <p:spPr>
          <a:xfrm>
            <a:off x="434340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1048648" name="Shape 23"/>
          <p:cNvSpPr/>
          <p:nvPr/>
        </p:nvSpPr>
        <p:spPr>
          <a:xfrm>
            <a:off x="4572000" y="4069080"/>
            <a:ext cx="502920" cy="502920"/>
          </a:xfrm>
          <a:prstGeom prst="ellipse"/>
          <a:solidFill>
            <a:srgbClr val="3730A3"/>
          </a:solidFill>
        </p:spPr>
      </p:sp>
      <p:sp>
        <p:nvSpPr>
          <p:cNvPr id="1048649" name="Text 24"/>
          <p:cNvSpPr txBox="1"/>
          <p:nvPr/>
        </p:nvSpPr>
        <p:spPr>
          <a:xfrm>
            <a:off x="4572000" y="406908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1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dirty="0" sz="1210" lang="en-US"/>
          </a:p>
        </p:txBody>
      </p:sp>
      <p:sp>
        <p:nvSpPr>
          <p:cNvPr id="1048650" name="Text 25"/>
          <p:cNvSpPr txBox="1"/>
          <p:nvPr/>
        </p:nvSpPr>
        <p:spPr>
          <a:xfrm>
            <a:off x="5212080" y="4023360"/>
            <a:ext cx="25603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&amp; Text Support</a:t>
            </a:r>
            <a:endParaRPr dirty="0" sz="1450" lang="en-US"/>
          </a:p>
        </p:txBody>
      </p:sp>
      <p:sp>
        <p:nvSpPr>
          <p:cNvPr id="1048651" name="Text 26"/>
          <p:cNvSpPr txBox="1"/>
          <p:nvPr/>
        </p:nvSpPr>
        <p:spPr>
          <a:xfrm>
            <a:off x="4572000" y="4709160"/>
            <a:ext cx="3154680" cy="10972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by typing or speaking, making learning more natural and accessible.</a:t>
            </a:r>
            <a:endParaRPr dirty="0" sz="1150" lang="en-US"/>
          </a:p>
        </p:txBody>
      </p:sp>
      <p:sp>
        <p:nvSpPr>
          <p:cNvPr id="1048652" name="Shape 27"/>
          <p:cNvSpPr/>
          <p:nvPr/>
        </p:nvSpPr>
        <p:spPr>
          <a:xfrm>
            <a:off x="813816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1048653" name="Shape 28"/>
          <p:cNvSpPr/>
          <p:nvPr/>
        </p:nvSpPr>
        <p:spPr>
          <a:xfrm>
            <a:off x="8366760" y="4069080"/>
            <a:ext cx="502920" cy="502920"/>
          </a:xfrm>
          <a:prstGeom prst="ellipse"/>
          <a:solidFill>
            <a:srgbClr val="EC4899"/>
          </a:solidFill>
        </p:spPr>
      </p:sp>
      <p:sp>
        <p:nvSpPr>
          <p:cNvPr id="1048654" name="Text 29"/>
          <p:cNvSpPr txBox="1"/>
          <p:nvPr/>
        </p:nvSpPr>
        <p:spPr>
          <a:xfrm>
            <a:off x="8366760" y="406908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1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dirty="0" sz="1210" lang="en-US"/>
          </a:p>
        </p:txBody>
      </p:sp>
      <p:sp>
        <p:nvSpPr>
          <p:cNvPr id="1048655" name="Text 30"/>
          <p:cNvSpPr txBox="1"/>
          <p:nvPr/>
        </p:nvSpPr>
        <p:spPr>
          <a:xfrm>
            <a:off x="9006840" y="4023360"/>
            <a:ext cx="25603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Tracking</a:t>
            </a:r>
            <a:endParaRPr dirty="0" sz="1450" lang="en-US"/>
          </a:p>
        </p:txBody>
      </p:sp>
      <p:sp>
        <p:nvSpPr>
          <p:cNvPr id="1048656" name="Text 31"/>
          <p:cNvSpPr txBox="1"/>
          <p:nvPr/>
        </p:nvSpPr>
        <p:spPr>
          <a:xfrm>
            <a:off x="8366760" y="4709160"/>
            <a:ext cx="3154680" cy="10972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what's mastered and what needs more attention, over time.</a:t>
            </a:r>
            <a:endParaRPr dirty="0" sz="115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ext 0"/>
          <p:cNvSpPr txBox="1"/>
          <p:nvPr/>
        </p:nvSpPr>
        <p:spPr>
          <a:xfrm>
            <a:off x="548640" y="411480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dirty="0" sz="3200" lang="en-US"/>
          </a:p>
        </p:txBody>
      </p:sp>
      <p:sp>
        <p:nvSpPr>
          <p:cNvPr id="1048661" name="Text 1"/>
          <p:cNvSpPr txBox="1"/>
          <p:nvPr/>
        </p:nvSpPr>
        <p:spPr>
          <a:xfrm>
            <a:off x="548640" y="960120"/>
            <a:ext cx="8229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 query to personalized guidance</a:t>
            </a:r>
            <a:endParaRPr dirty="0" sz="1400" lang="en-US"/>
          </a:p>
        </p:txBody>
      </p:sp>
      <p:sp>
        <p:nvSpPr>
          <p:cNvPr id="1048662" name="Shape 2"/>
          <p:cNvSpPr/>
          <p:nvPr/>
        </p:nvSpPr>
        <p:spPr>
          <a:xfrm>
            <a:off x="54864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1B4B"/>
          </a:solidFill>
        </p:spPr>
      </p:sp>
      <p:sp>
        <p:nvSpPr>
          <p:cNvPr id="1048663" name="Text 3"/>
          <p:cNvSpPr txBox="1"/>
          <p:nvPr/>
        </p:nvSpPr>
        <p:spPr>
          <a:xfrm>
            <a:off x="731520" y="2286000"/>
            <a:ext cx="91440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dirty="0" sz="3400" lang="en-US"/>
          </a:p>
        </p:txBody>
      </p:sp>
      <p:sp>
        <p:nvSpPr>
          <p:cNvPr id="1048664" name="Text 4"/>
          <p:cNvSpPr txBox="1"/>
          <p:nvPr/>
        </p:nvSpPr>
        <p:spPr>
          <a:xfrm>
            <a:off x="731520" y="3063240"/>
            <a:ext cx="224028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Asks</a:t>
            </a:r>
            <a:endParaRPr dirty="0" sz="1500" lang="en-US"/>
          </a:p>
        </p:txBody>
      </p:sp>
      <p:sp>
        <p:nvSpPr>
          <p:cNvPr id="1048665" name="Text 5"/>
          <p:cNvSpPr txBox="1"/>
          <p:nvPr/>
        </p:nvSpPr>
        <p:spPr>
          <a:xfrm>
            <a:off x="731520" y="3611880"/>
            <a:ext cx="2240280" cy="1737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5000"/>
              </a:lnSpc>
              <a:buNone/>
            </a:pPr>
            <a:r>
              <a:rPr dirty="0" sz="1150" lang="en-US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types or speaks a question, topic, or doubt into EduGenie.</a:t>
            </a:r>
            <a:endParaRPr dirty="0" sz="1150" lang="en-US"/>
          </a:p>
        </p:txBody>
      </p:sp>
      <p:sp>
        <p:nvSpPr>
          <p:cNvPr id="1048666" name="Text 6"/>
          <p:cNvSpPr txBox="1"/>
          <p:nvPr/>
        </p:nvSpPr>
        <p:spPr>
          <a:xfrm>
            <a:off x="3108960" y="3474720"/>
            <a:ext cx="36576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2000" lang="en-US"/>
          </a:p>
        </p:txBody>
      </p:sp>
      <p:sp>
        <p:nvSpPr>
          <p:cNvPr id="1048667" name="Shape 7"/>
          <p:cNvSpPr/>
          <p:nvPr/>
        </p:nvSpPr>
        <p:spPr>
          <a:xfrm>
            <a:off x="338328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3730A3"/>
          </a:solidFill>
        </p:spPr>
      </p:sp>
      <p:sp>
        <p:nvSpPr>
          <p:cNvPr id="1048668" name="Text 8"/>
          <p:cNvSpPr txBox="1"/>
          <p:nvPr/>
        </p:nvSpPr>
        <p:spPr>
          <a:xfrm>
            <a:off x="3566160" y="2286000"/>
            <a:ext cx="91440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dirty="0" sz="3400" lang="en-US"/>
          </a:p>
        </p:txBody>
      </p:sp>
      <p:sp>
        <p:nvSpPr>
          <p:cNvPr id="1048669" name="Text 9"/>
          <p:cNvSpPr txBox="1"/>
          <p:nvPr/>
        </p:nvSpPr>
        <p:spPr>
          <a:xfrm>
            <a:off x="3566160" y="3063240"/>
            <a:ext cx="224028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Understands</a:t>
            </a:r>
            <a:endParaRPr dirty="0" sz="1500" lang="en-US"/>
          </a:p>
        </p:txBody>
      </p:sp>
      <p:sp>
        <p:nvSpPr>
          <p:cNvPr id="1048670" name="Text 10"/>
          <p:cNvSpPr txBox="1"/>
          <p:nvPr/>
        </p:nvSpPr>
        <p:spPr>
          <a:xfrm>
            <a:off x="3566160" y="3611880"/>
            <a:ext cx="2240280" cy="1737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5000"/>
              </a:lnSpc>
              <a:buNone/>
            </a:pPr>
            <a:r>
              <a:rPr dirty="0" sz="1150" lang="en-US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interprets intent, context, and the student's learning level.</a:t>
            </a:r>
            <a:endParaRPr dirty="0" sz="1150" lang="en-US"/>
          </a:p>
        </p:txBody>
      </p:sp>
      <p:sp>
        <p:nvSpPr>
          <p:cNvPr id="1048671" name="Text 11"/>
          <p:cNvSpPr txBox="1"/>
          <p:nvPr/>
        </p:nvSpPr>
        <p:spPr>
          <a:xfrm>
            <a:off x="5943600" y="3474720"/>
            <a:ext cx="36576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2000" lang="en-US"/>
          </a:p>
        </p:txBody>
      </p:sp>
      <p:sp>
        <p:nvSpPr>
          <p:cNvPr id="1048672" name="Shape 12"/>
          <p:cNvSpPr/>
          <p:nvPr/>
        </p:nvSpPr>
        <p:spPr>
          <a:xfrm>
            <a:off x="621792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1B4B"/>
          </a:solidFill>
        </p:spPr>
      </p:sp>
      <p:sp>
        <p:nvSpPr>
          <p:cNvPr id="1048673" name="Text 13"/>
          <p:cNvSpPr txBox="1"/>
          <p:nvPr/>
        </p:nvSpPr>
        <p:spPr>
          <a:xfrm>
            <a:off x="6400800" y="2286000"/>
            <a:ext cx="91440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dirty="0" sz="3400" lang="en-US"/>
          </a:p>
        </p:txBody>
      </p:sp>
      <p:sp>
        <p:nvSpPr>
          <p:cNvPr id="1048674" name="Text 14"/>
          <p:cNvSpPr txBox="1"/>
          <p:nvPr/>
        </p:nvSpPr>
        <p:spPr>
          <a:xfrm>
            <a:off x="6400800" y="3063240"/>
            <a:ext cx="224028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Generated</a:t>
            </a:r>
            <a:endParaRPr dirty="0" sz="1500" lang="en-US"/>
          </a:p>
        </p:txBody>
      </p:sp>
      <p:sp>
        <p:nvSpPr>
          <p:cNvPr id="1048675" name="Text 15"/>
          <p:cNvSpPr txBox="1"/>
          <p:nvPr/>
        </p:nvSpPr>
        <p:spPr>
          <a:xfrm>
            <a:off x="6400800" y="3611880"/>
            <a:ext cx="2240280" cy="1737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5000"/>
              </a:lnSpc>
              <a:buNone/>
            </a:pPr>
            <a:r>
              <a:rPr dirty="0" sz="1150" lang="en-US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explanation, summary, or practice set is created instantly.</a:t>
            </a:r>
            <a:endParaRPr dirty="0" sz="1150" lang="en-US"/>
          </a:p>
        </p:txBody>
      </p:sp>
      <p:sp>
        <p:nvSpPr>
          <p:cNvPr id="1048676" name="Text 16"/>
          <p:cNvSpPr txBox="1"/>
          <p:nvPr/>
        </p:nvSpPr>
        <p:spPr>
          <a:xfrm>
            <a:off x="8778240" y="3474720"/>
            <a:ext cx="36576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2000" lang="en-US"/>
          </a:p>
        </p:txBody>
      </p:sp>
      <p:sp>
        <p:nvSpPr>
          <p:cNvPr id="1048677" name="Shape 17"/>
          <p:cNvSpPr/>
          <p:nvPr/>
        </p:nvSpPr>
        <p:spPr>
          <a:xfrm>
            <a:off x="905256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3730A3"/>
          </a:solidFill>
        </p:spPr>
      </p:sp>
      <p:sp>
        <p:nvSpPr>
          <p:cNvPr id="1048678" name="Text 18"/>
          <p:cNvSpPr txBox="1"/>
          <p:nvPr/>
        </p:nvSpPr>
        <p:spPr>
          <a:xfrm>
            <a:off x="9235440" y="2286000"/>
            <a:ext cx="91440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dirty="0" sz="3400" lang="en-US"/>
          </a:p>
        </p:txBody>
      </p:sp>
      <p:sp>
        <p:nvSpPr>
          <p:cNvPr id="1048679" name="Text 19"/>
          <p:cNvSpPr txBox="1"/>
          <p:nvPr/>
        </p:nvSpPr>
        <p:spPr>
          <a:xfrm>
            <a:off x="9235440" y="3063240"/>
            <a:ext cx="224028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Updates</a:t>
            </a:r>
            <a:endParaRPr dirty="0" sz="1500" lang="en-US"/>
          </a:p>
        </p:txBody>
      </p:sp>
      <p:sp>
        <p:nvSpPr>
          <p:cNvPr id="1048680" name="Text 20"/>
          <p:cNvSpPr txBox="1"/>
          <p:nvPr/>
        </p:nvSpPr>
        <p:spPr>
          <a:xfrm>
            <a:off x="9235440" y="3611880"/>
            <a:ext cx="2240280" cy="1737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5000"/>
              </a:lnSpc>
              <a:buNone/>
            </a:pPr>
            <a:r>
              <a:rPr dirty="0" sz="1150" lang="en-US">
                <a:solidFill>
                  <a:srgbClr val="E3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logs the interaction and refines future guidance accordingly.</a:t>
            </a:r>
            <a:endParaRPr dirty="0" sz="115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ext 0"/>
          <p:cNvSpPr txBox="1"/>
          <p:nvPr/>
        </p:nvSpPr>
        <p:spPr>
          <a:xfrm>
            <a:off x="548640" y="411480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dirty="0" sz="3200" lang="en-US"/>
          </a:p>
        </p:txBody>
      </p:sp>
      <p:sp>
        <p:nvSpPr>
          <p:cNvPr id="1048685" name="Shape 1"/>
          <p:cNvSpPr/>
          <p:nvPr/>
        </p:nvSpPr>
        <p:spPr>
          <a:xfrm>
            <a:off x="54864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1B4B"/>
          </a:solidFill>
        </p:spPr>
      </p:sp>
      <p:sp>
        <p:nvSpPr>
          <p:cNvPr id="1048686" name="Text 2"/>
          <p:cNvSpPr txBox="1"/>
          <p:nvPr/>
        </p:nvSpPr>
        <p:spPr>
          <a:xfrm>
            <a:off x="548640" y="1554480"/>
            <a:ext cx="3520440" cy="9144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dirty="0" sz="4400" lang="en-US"/>
          </a:p>
        </p:txBody>
      </p:sp>
      <p:sp>
        <p:nvSpPr>
          <p:cNvPr id="1048687" name="Text 3"/>
          <p:cNvSpPr txBox="1"/>
          <p:nvPr/>
        </p:nvSpPr>
        <p:spPr>
          <a:xfrm>
            <a:off x="822960" y="2423160"/>
            <a:ext cx="297180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Support</a:t>
            </a:r>
            <a:endParaRPr dirty="0" sz="1250" lang="en-US"/>
          </a:p>
          <a:p>
            <a:pPr algn="ctr"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Anytime</a:t>
            </a:r>
            <a:endParaRPr dirty="0" sz="1250" lang="en-US"/>
          </a:p>
        </p:txBody>
      </p:sp>
      <p:sp>
        <p:nvSpPr>
          <p:cNvPr id="1048688" name="Shape 4"/>
          <p:cNvSpPr/>
          <p:nvPr/>
        </p:nvSpPr>
        <p:spPr>
          <a:xfrm>
            <a:off x="438912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C4899"/>
          </a:solidFill>
        </p:spPr>
      </p:sp>
      <p:sp>
        <p:nvSpPr>
          <p:cNvPr id="1048689" name="Text 5"/>
          <p:cNvSpPr txBox="1"/>
          <p:nvPr/>
        </p:nvSpPr>
        <p:spPr>
          <a:xfrm>
            <a:off x="4389120" y="1554480"/>
            <a:ext cx="3520440" cy="9144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</a:t>
            </a:r>
            <a:endParaRPr dirty="0" sz="4400" lang="en-US"/>
          </a:p>
        </p:txBody>
      </p:sp>
      <p:sp>
        <p:nvSpPr>
          <p:cNvPr id="1048690" name="Text 6"/>
          <p:cNvSpPr txBox="1"/>
          <p:nvPr/>
        </p:nvSpPr>
        <p:spPr>
          <a:xfrm>
            <a:off x="4663440" y="2423160"/>
            <a:ext cx="297180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dirty="0" sz="1250" lang="en-US"/>
          </a:p>
          <a:p>
            <a:pPr algn="ctr"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Student</a:t>
            </a:r>
            <a:endParaRPr dirty="0" sz="1250" lang="en-US"/>
          </a:p>
        </p:txBody>
      </p:sp>
      <p:sp>
        <p:nvSpPr>
          <p:cNvPr id="1048691" name="Shape 7"/>
          <p:cNvSpPr/>
          <p:nvPr/>
        </p:nvSpPr>
        <p:spPr>
          <a:xfrm>
            <a:off x="822960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1B4B"/>
          </a:solidFill>
        </p:spPr>
      </p:sp>
      <p:sp>
        <p:nvSpPr>
          <p:cNvPr id="1048692" name="Text 8"/>
          <p:cNvSpPr txBox="1"/>
          <p:nvPr/>
        </p:nvSpPr>
        <p:spPr>
          <a:xfrm>
            <a:off x="8229600" y="1554480"/>
            <a:ext cx="3520440" cy="9144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dirty="0" sz="4400" lang="en-US"/>
          </a:p>
        </p:txBody>
      </p:sp>
      <p:sp>
        <p:nvSpPr>
          <p:cNvPr id="1048693" name="Text 9"/>
          <p:cNvSpPr txBox="1"/>
          <p:nvPr/>
        </p:nvSpPr>
        <p:spPr>
          <a:xfrm>
            <a:off x="8503920" y="2423160"/>
            <a:ext cx="297180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Content</a:t>
            </a:r>
            <a:endParaRPr dirty="0" sz="1250" lang="en-US"/>
          </a:p>
          <a:p>
            <a:pPr algn="ctr"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F1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Pace</a:t>
            </a:r>
            <a:endParaRPr dirty="0" sz="1250" lang="en-US"/>
          </a:p>
        </p:txBody>
      </p:sp>
      <p:sp>
        <p:nvSpPr>
          <p:cNvPr id="1048694" name="Shape 10"/>
          <p:cNvSpPr/>
          <p:nvPr/>
        </p:nvSpPr>
        <p:spPr>
          <a:xfrm>
            <a:off x="548640" y="365760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EEF0FF"/>
          </a:solidFill>
        </p:spPr>
      </p:sp>
      <p:sp>
        <p:nvSpPr>
          <p:cNvPr id="1048695" name="Text 11"/>
          <p:cNvSpPr txBox="1"/>
          <p:nvPr/>
        </p:nvSpPr>
        <p:spPr>
          <a:xfrm>
            <a:off x="914400" y="3886200"/>
            <a:ext cx="45720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dirty="0" sz="1700" lang="en-US"/>
          </a:p>
        </p:txBody>
      </p:sp>
      <p:sp>
        <p:nvSpPr>
          <p:cNvPr id="1048696" name="Text 12"/>
          <p:cNvSpPr txBox="1"/>
          <p:nvPr/>
        </p:nvSpPr>
        <p:spPr>
          <a:xfrm>
            <a:off x="914400" y="4434840"/>
            <a:ext cx="32918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dirty="0" sz="1400" lang="en-US"/>
          </a:p>
        </p:txBody>
      </p:sp>
      <p:sp>
        <p:nvSpPr>
          <p:cNvPr id="1048697" name="Text 13"/>
          <p:cNvSpPr txBox="1"/>
          <p:nvPr/>
        </p:nvSpPr>
        <p:spPr>
          <a:xfrm>
            <a:off x="914400" y="4800600"/>
            <a:ext cx="3291840" cy="10058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20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instant, judgment-free help and study at their own pace.</a:t>
            </a:r>
            <a:endParaRPr dirty="0" sz="1200" lang="en-US"/>
          </a:p>
        </p:txBody>
      </p:sp>
      <p:sp>
        <p:nvSpPr>
          <p:cNvPr id="1048698" name="Text 14"/>
          <p:cNvSpPr txBox="1"/>
          <p:nvPr/>
        </p:nvSpPr>
        <p:spPr>
          <a:xfrm>
            <a:off x="4480560" y="4434840"/>
            <a:ext cx="32918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dirty="0" sz="1400" lang="en-US"/>
          </a:p>
        </p:txBody>
      </p:sp>
      <p:sp>
        <p:nvSpPr>
          <p:cNvPr id="1048699" name="Text 15"/>
          <p:cNvSpPr txBox="1"/>
          <p:nvPr/>
        </p:nvSpPr>
        <p:spPr>
          <a:xfrm>
            <a:off x="4480560" y="4800600"/>
            <a:ext cx="3291840" cy="10058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20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 on repetitive doubts and focus on deeper mentoring.</a:t>
            </a:r>
            <a:endParaRPr dirty="0" sz="1200" lang="en-US"/>
          </a:p>
        </p:txBody>
      </p:sp>
      <p:sp>
        <p:nvSpPr>
          <p:cNvPr id="1048700" name="Text 16"/>
          <p:cNvSpPr txBox="1"/>
          <p:nvPr/>
        </p:nvSpPr>
        <p:spPr>
          <a:xfrm>
            <a:off x="8046720" y="4434840"/>
            <a:ext cx="32918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dirty="0" sz="1400" lang="en-US"/>
          </a:p>
        </p:txBody>
      </p:sp>
      <p:sp>
        <p:nvSpPr>
          <p:cNvPr id="1048701" name="Text 17"/>
          <p:cNvSpPr txBox="1"/>
          <p:nvPr/>
        </p:nvSpPr>
        <p:spPr>
          <a:xfrm>
            <a:off x="8046720" y="4800600"/>
            <a:ext cx="3291840" cy="10058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200" lang="en-US">
                <a:solidFill>
                  <a:srgbClr val="1F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learning outcomes and engagement at scale.</a:t>
            </a:r>
            <a:endParaRPr dirty="0" sz="1200" lang="en-US"/>
          </a:p>
        </p:txBody>
      </p:sp>
      <p:sp>
        <p:nvSpPr>
          <p:cNvPr id="1048702" name="Text 18"/>
          <p:cNvSpPr txBox="1"/>
          <p:nvPr/>
        </p:nvSpPr>
        <p:spPr>
          <a:xfrm>
            <a:off x="548640" y="6172200"/>
            <a:ext cx="10972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i="1" lang="en-US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 — learning that understands you.</a:t>
            </a:r>
            <a:endParaRPr dirty="0" sz="15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2026-09-23T00:25:27Z</dcterms:created>
  <dcterms:modified xsi:type="dcterms:W3CDTF">2026-09-30T08:35:21Z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29d372bd3b694bde8fae69abda3b3a71</vt:lpwstr>
  </property>
</Properties>
</file>